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400"/>
              </a:spcAft>
              <a:defRPr sz="1100" b="1">
                <a:solidFill>
                  <a:srgbClr val="0E7490"/>
                </a:solidFill>
              </a:defRPr>
            </a:pPr>
            <a:r>
              <a:t>COURSE-BASED PROJECT (CBP) • IMAGE PROCESSING &amp; COMPUTER VISION</a:t>
            </a:r>
          </a:p>
          <a:p>
            <a:pPr>
              <a:spcAft>
                <a:spcPts val="1400"/>
              </a:spcAft>
              <a:defRPr sz="2800" b="1">
                <a:solidFill>
                  <a:srgbClr val="0F172A"/>
                </a:solidFill>
              </a:defRPr>
            </a:pPr>
            <a:r>
              <a:t>Fingerprint Image Enhancement for</a:t>
            </a:r>
            <a:br/>
            <a:r>
              <a:t>Forensic Identification</a:t>
            </a:r>
          </a:p>
          <a:p>
            <a:pPr>
              <a:spcAft>
                <a:spcPts val="2800"/>
              </a:spcAft>
              <a:defRPr sz="1300">
                <a:solidFill>
                  <a:srgbClr val="475569"/>
                </a:solidFill>
              </a:defRPr>
            </a:pPr>
            <a:r>
              <a:t>An end-to-end digital image processing framework restoring degraded latent fingerprints using CLAHE, Gabor filter banks, unsharp masking, and Otsu binarization for automated biometric recognition.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931920"/>
            <a:ext cx="32004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0E7490"/>
                </a:solidFill>
              </a:defRPr>
            </a:pPr>
            <a:r>
              <a:t>Student Details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A. Varshini</a:t>
            </a:r>
            <a:br/>
            <a:r>
              <a:t>Roll No: 24075A6616</a:t>
            </a:r>
            <a:br/>
            <a:r>
              <a:t>B.Tech Computer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931920"/>
            <a:ext cx="32004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4F46E5"/>
                </a:solidFill>
              </a:defRPr>
            </a:pPr>
            <a:r>
              <a:t>Course &amp; Project Type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Image Processing &amp; Computer Vision</a:t>
            </a:r>
            <a:br/>
            <a:r>
              <a:t>Course-Based Project (CBP)</a:t>
            </a:r>
            <a:br/>
            <a:r>
              <a:t>Academic Year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931920"/>
            <a:ext cx="32004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Core Technologies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Python 3 · OpenCV · Scikit-Image</a:t>
            </a:r>
            <a:br/>
            <a:r>
              <a:t>Gabor Filter Bank · CLAHE · Otsu</a:t>
            </a:r>
            <a:br/>
            <a:r>
              <a:t>Flask Web Studio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MOTIVATION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Latent Fingerprint Challenge in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DC2626"/>
                </a:solidFill>
              </a:defRPr>
            </a:pPr>
            <a:r>
              <a:t>⚠️ Forensic Degradation Factors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Latent Impressions: </a:t>
            </a:r>
            <a:r>
              <a:rPr b="0">
                <a:solidFill>
                  <a:srgbClr val="475569"/>
                </a:solidFill>
              </a:rPr>
              <a:t>Fingerprints recovered from crime scenes are deposited involuntarily via sweat and oil, resulting in highly degraded, faint impressions.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Broken Ridge Flow: </a:t>
            </a:r>
            <a:r>
              <a:rPr b="0">
                <a:solidFill>
                  <a:srgbClr val="475569"/>
                </a:solidFill>
              </a:rPr>
              <a:t>Dry skin conditions or low pressure cause false ridge endings and discontinuous contours.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Smudges &amp; Overlaps: </a:t>
            </a:r>
            <a:r>
              <a:rPr b="0">
                <a:solidFill>
                  <a:srgbClr val="475569"/>
                </a:solidFill>
              </a:rPr>
              <a:t>Excess sebum or sliding contact blurs ridge valleys into continuous dark patches.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Background Noise: </a:t>
            </a:r>
            <a:r>
              <a:rPr b="0">
                <a:solidFill>
                  <a:srgbClr val="475569"/>
                </a:solidFill>
              </a:rPr>
              <a:t>Non-uniform surfaces (paper grain, metallic textures, dust) introduce severe noise corrupting ridge patterns.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Impact on AFIS: </a:t>
            </a:r>
            <a:r>
              <a:rPr b="0">
                <a:solidFill>
                  <a:srgbClr val="475569"/>
                </a:solidFill>
              </a:rPr>
              <a:t>Automated Fingerprint Identification Systems fail or extract spurious minutiae if ridge continuity is not restored.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E7490"/>
                </a:solidFill>
              </a:defRPr>
            </a:pPr>
            <a:r>
              <a:t>🎯 Project Objectives &amp; Methodology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Noise Removal: </a:t>
            </a:r>
            <a:r>
              <a:rPr b="0">
                <a:solidFill>
                  <a:srgbClr val="475569"/>
                </a:solidFill>
              </a:rPr>
              <a:t>Apply Gaussian and Median filtering to suppress high-frequency noise and sensor artifacts while preserving boundary edges.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Adaptive Contrast Gain: </a:t>
            </a:r>
            <a:r>
              <a:rPr b="0">
                <a:solidFill>
                  <a:srgbClr val="475569"/>
                </a:solidFill>
              </a:rPr>
              <a:t>Utilize CLAHE (Contrast Limited Adaptive Histogram Equalization) to balance illumination across shadow and highlight regions.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Directional Ridge Tuning: </a:t>
            </a:r>
            <a:r>
              <a:rPr b="0">
                <a:solidFill>
                  <a:srgbClr val="475569"/>
                </a:solidFill>
              </a:rPr>
              <a:t>Design an 8-orientation 2D Gabor filter bank specifically tuned to fingerprint ridge spatial frequencies.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Structural Healing: </a:t>
            </a:r>
            <a:r>
              <a:rPr b="0">
                <a:solidFill>
                  <a:srgbClr val="475569"/>
                </a:solidFill>
              </a:rPr>
              <a:t>Use morphological closing and unsharp masking to close ridge gaps and sharpen ridge valley borders.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Automated Binarization: </a:t>
            </a:r>
            <a:r>
              <a:rPr b="0">
                <a:solidFill>
                  <a:srgbClr val="475569"/>
                </a:solidFill>
              </a:rPr>
              <a:t>Compute Otsu adaptive thresholding to deliver a 1-bit ridge skeleton suitable for minutiae extraction.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5-Stage Digital Image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11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0E7490"/>
                </a:solidFill>
              </a:defRPr>
            </a:pPr>
            <a:r>
              <a:t>Stage 1: Denoising</a:t>
            </a:r>
          </a:p>
          <a:p>
            <a:pPr>
              <a:spcAft>
                <a:spcPts val="1200"/>
              </a:spcAft>
              <a:defRPr sz="950" b="1">
                <a:solidFill>
                  <a:srgbClr val="0E7490"/>
                </a:solidFill>
              </a:defRPr>
            </a:pPr>
            <a:r>
              <a:t>DUAL FILTERING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Gaussian filter (3×3, σ=0.8) removes Gaussian noise; Median filter (3×3) eliminates impulsive salt-and-pepper noise without blurring edge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280160"/>
            <a:ext cx="2011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4F46E5"/>
                </a:solidFill>
              </a:defRPr>
            </a:pPr>
            <a:r>
              <a:t>Stage 2: CLAHE</a:t>
            </a:r>
          </a:p>
          <a:p>
            <a:pPr>
              <a:spcAft>
                <a:spcPts val="1200"/>
              </a:spcAft>
              <a:defRPr sz="950" b="1">
                <a:solidFill>
                  <a:srgbClr val="4F46E5"/>
                </a:solidFill>
              </a:defRPr>
            </a:pPr>
            <a:r>
              <a:t>ADAPTIVE CONTRAST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Divides image into 8×8 contextual tiles; limits contrast amplification via clip limit 3.0 to prevent noise over-amplification in background valleys.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280160"/>
            <a:ext cx="2011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Stage 3: Gabor Bank</a:t>
            </a:r>
          </a:p>
          <a:p>
            <a:pPr>
              <a:spcAft>
                <a:spcPts val="1200"/>
              </a:spcAft>
              <a:defRPr sz="950" b="1">
                <a:solidFill>
                  <a:srgbClr val="10B981"/>
                </a:solidFill>
              </a:defRPr>
            </a:pPr>
            <a:r>
              <a:t>DIRECTIONAL TUNING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8 filter orientations (θ = 0° to 157.5°). Kernel tuned to ridge frequency (λ=10, σ=4.0) acting as a bandpass filter along local ridge orientations.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280160"/>
            <a:ext cx="2011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D97706"/>
                </a:solidFill>
              </a:defRPr>
            </a:pPr>
            <a:r>
              <a:t>Stage 4: Morphology</a:t>
            </a:r>
          </a:p>
          <a:p>
            <a:pPr>
              <a:spcAft>
                <a:spcPts val="1200"/>
              </a:spcAft>
              <a:defRPr sz="950" b="1">
                <a:solidFill>
                  <a:srgbClr val="D97706"/>
                </a:solidFill>
              </a:defRPr>
            </a:pPr>
            <a:r>
              <a:t>RIDGE REFINEMENT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Unsharp masking (strength=1.5, σ=2.0) sharpens ridge peaks; morphological closing with 3×3 elliptical kernel bridges false ridge fractures.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280160"/>
            <a:ext cx="2011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Stage 5: Otsu Binarize</a:t>
            </a:r>
          </a:p>
          <a:p>
            <a:pPr>
              <a:spcAft>
                <a:spcPts val="1200"/>
              </a:spcAft>
              <a:defRPr sz="950" b="1">
                <a:solidFill>
                  <a:srgbClr val="0F172A"/>
                </a:solidFill>
              </a:defRPr>
            </a:pPr>
            <a:r>
              <a:t>RIDGE SKELETON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Calculates optimal threshold minimizing intra-class variance; inverts binary mask to produce pristine black ridges on white canvas for AFIS.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EXPERIMENTAL PIPELINE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Progression Across Enhancement Stages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E7490"/>
                </a:solidFill>
              </a:defRPr>
            </a:pPr>
            <a:r>
              <a:t>🔬 End-to-End Pipeline Output (Latent Test Sample)</a:t>
            </a:r>
          </a:p>
        </p:txBody>
      </p:sp>
      <p:pic>
        <p:nvPicPr>
          <p:cNvPr id="6" name="Picture 5" descr="pipeline_stag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10454335" cy="19642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7091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E7490"/>
                </a:solidFill>
              </a:defRPr>
            </a:pPr>
            <a:r>
              <a:t>1. Noise Suppression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0F172A"/>
                </a:solidFill>
              </a:rPr>
              <a:t>• Stages 0 → 1: </a:t>
            </a:r>
            <a:r>
              <a:rPr b="0">
                <a:solidFill>
                  <a:srgbClr val="475569"/>
                </a:solidFill>
              </a:rPr>
              <a:t>Dual Gaussian-Median filtering suppresses high-frequency background granularity.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0F172A"/>
                </a:solidFill>
              </a:rPr>
              <a:t>• Ridge Protection: </a:t>
            </a:r>
            <a:r>
              <a:rPr b="0">
                <a:solidFill>
                  <a:srgbClr val="475569"/>
                </a:solidFill>
              </a:rPr>
              <a:t>Edge sharpness is retained while suppressing surface dust and sensor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7091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4F46E5"/>
                </a:solidFill>
              </a:defRPr>
            </a:pPr>
            <a:r>
              <a:t>2. Gabor Orientation Bank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0F172A"/>
                </a:solidFill>
              </a:rPr>
              <a:t>• Stages 2 → 3: </a:t>
            </a:r>
            <a:r>
              <a:rPr b="0">
                <a:solidFill>
                  <a:srgbClr val="475569"/>
                </a:solidFill>
              </a:rPr>
              <a:t>CLAHE boosts valley clarity; Gabor bank responds maximally along true ridge flow.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0F172A"/>
                </a:solidFill>
              </a:rPr>
              <a:t>• Ridge Continuity: </a:t>
            </a:r>
            <a:r>
              <a:rPr b="0">
                <a:solidFill>
                  <a:srgbClr val="475569"/>
                </a:solidFill>
              </a:rPr>
              <a:t>False gaps caused by latent print degradation are bridged systematically.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47091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3. Binarized Extraction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0F172A"/>
                </a:solidFill>
              </a:rPr>
              <a:t>• Stages 4 → 5: </a:t>
            </a:r>
            <a:r>
              <a:rPr b="0">
                <a:solidFill>
                  <a:srgbClr val="475569"/>
                </a:solidFill>
              </a:rPr>
              <a:t>Morphological close seals remaining pores; Otsu thresholding separates ridges.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0F172A"/>
                </a:solidFill>
              </a:rPr>
              <a:t>• Biometric Ready: </a:t>
            </a:r>
            <a:r>
              <a:rPr b="0">
                <a:solidFill>
                  <a:srgbClr val="475569"/>
                </a:solidFill>
              </a:rPr>
              <a:t>Output provides a clean 1-bit ridge map ready for minutiae point triangulation.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FORENSIC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Before vs. After: Latent Input vs. Restored Ridge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8580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E7490"/>
                </a:solidFill>
              </a:defRPr>
            </a:pPr>
            <a:r>
              <a:t>🔍 Side-by-Side Visual Transformation</a:t>
            </a:r>
          </a:p>
        </p:txBody>
      </p:sp>
      <p:pic>
        <p:nvPicPr>
          <p:cNvPr id="6" name="Picture 5" descr="before_aft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6583680" cy="2235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280160"/>
            <a:ext cx="36877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4F46E5"/>
                </a:solidFill>
              </a:defRPr>
            </a:pPr>
            <a:r>
              <a:t>📋 Forensic Inspection Details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Input Status: </a:t>
            </a:r>
            <a:r>
              <a:rPr b="0">
                <a:solidFill>
                  <a:srgbClr val="475569"/>
                </a:solidFill>
              </a:rPr>
              <a:t>Original latent sample exhibits severe contrast fading, broken ridge paths, and heavy background grain.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Enhanced Image: </a:t>
            </a:r>
            <a:r>
              <a:rPr b="0">
                <a:solidFill>
                  <a:srgbClr val="475569"/>
                </a:solidFill>
              </a:rPr>
              <a:t>Ridges are rendered with deep contrast, continuous boundaries, and smooth curves matching biological flow.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Binarized Map: </a:t>
            </a:r>
            <a:r>
              <a:rPr b="0">
                <a:solidFill>
                  <a:srgbClr val="475569"/>
                </a:solidFill>
              </a:rPr>
              <a:t>Otsu thresholding produces clean, well-isolated 1-bit ridge skeletons with zero background noise artifacts.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Minutiae Integrity: </a:t>
            </a:r>
            <a:r>
              <a:rPr b="0">
                <a:solidFill>
                  <a:srgbClr val="475569"/>
                </a:solidFill>
              </a:rPr>
              <a:t>Key forensic landmarks — bifurcations, ridge endings, and delta patterns — are preserved without hallucinated features.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AFIS Matching: </a:t>
            </a:r>
            <a:r>
              <a:rPr b="0">
                <a:solidFill>
                  <a:srgbClr val="475569"/>
                </a:solidFill>
              </a:rPr>
              <a:t>Converts unmatchable crime scene latent prints into standard AFIS query images.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QUANTITATIVE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Metric Validation &amp; Quality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E7490"/>
                </a:solidFill>
              </a:defRPr>
            </a:pPr>
            <a:r>
              <a:t>📊 Intensity Distribution &amp; Performance Profile</a:t>
            </a:r>
          </a:p>
        </p:txBody>
      </p:sp>
      <p:pic>
        <p:nvPicPr>
          <p:cNvPr id="6" name="Picture 5" descr="metrics_distribu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6126480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80160"/>
            <a:ext cx="41449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📈 Quantitative Metric Summary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PSNR (Peak Signal-to-Noise): </a:t>
            </a:r>
            <a:r>
              <a:rPr b="0">
                <a:solidFill>
                  <a:srgbClr val="475569"/>
                </a:solidFill>
              </a:rPr>
              <a:t>5.29 dB — Reflects deliberate structural transformation from faint gray impression to sharp dark ridges.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SSIM (Structural Similarity): </a:t>
            </a:r>
            <a:r>
              <a:rPr b="0">
                <a:solidFill>
                  <a:srgbClr val="475569"/>
                </a:solidFill>
              </a:rPr>
              <a:t>0.5326 (53.3%) — Confirms ridge topology and spatial layout are preserved without distortion.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Contrast Improvement (CII): </a:t>
            </a:r>
            <a:r>
              <a:rPr b="0">
                <a:solidFill>
                  <a:srgbClr val="475569"/>
                </a:solidFill>
              </a:rPr>
              <a:t>Enhanced standard deviation standardizes dynamic range across the full ridge structure.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Quality Benchmark Score: </a:t>
            </a:r>
            <a:r>
              <a:rPr b="0">
                <a:solidFill>
                  <a:srgbClr val="475569"/>
                </a:solidFill>
              </a:rPr>
              <a:t>Composite score formulated to rank candidate fingerprints for automated forensic matching eligibility.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Histogram Normalization: </a:t>
            </a:r>
            <a:r>
              <a:rPr b="0">
                <a:solidFill>
                  <a:srgbClr val="475569"/>
                </a:solidFill>
              </a:rPr>
              <a:t>Original bimodal faint spread is remapped into sharp bimodal distribution separating ridge and valley pixels.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SYSTEM IMPLEMENTATION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ForensiPrint Studio Application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E7490"/>
                </a:solidFill>
              </a:defRPr>
            </a:pPr>
            <a:r>
              <a:t>💻 ForensiPrint Studio Web Interface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Flask Architecture: </a:t>
            </a:r>
            <a:r>
              <a:rPr b="0">
                <a:solidFill>
                  <a:srgbClr val="475569"/>
                </a:solidFill>
              </a:rPr>
              <a:t>Lightweight web application providing a responsive forensic analyst workbench.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Real-Time Processing: </a:t>
            </a:r>
            <a:r>
              <a:rPr b="0">
                <a:solidFill>
                  <a:srgbClr val="475569"/>
                </a:solidFill>
              </a:rPr>
              <a:t>Instant processing for PNG, JPG, BMP, TIFF, and PGM fingerprint files.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Interactive Visualizer: </a:t>
            </a:r>
            <a:r>
              <a:rPr b="0">
                <a:solidFill>
                  <a:srgbClr val="475569"/>
                </a:solidFill>
              </a:rPr>
              <a:t>Displays all 6 pipeline stages with interactive high-resolution lightbox inspection.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Quality Indicator Ring: </a:t>
            </a:r>
            <a:r>
              <a:rPr b="0">
                <a:solidFill>
                  <a:srgbClr val="475569"/>
                </a:solidFill>
              </a:rPr>
              <a:t>Dynamic SVG gauge categorizing processed prints into Excellent, Good, or Fair status.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Forensic Export: </a:t>
            </a:r>
            <a:r>
              <a:rPr b="0">
                <a:solidFill>
                  <a:srgbClr val="475569"/>
                </a:solidFill>
              </a:rPr>
              <a:t>One-click download of enhanced ridge maps and Otsu binarized skeletons.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4F46E5"/>
                </a:solidFill>
              </a:defRPr>
            </a:pPr>
            <a:r>
              <a:t>🏆 Conclusion &amp; Future Enhancements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Project Summary: </a:t>
            </a:r>
            <a:r>
              <a:rPr b="0">
                <a:solidFill>
                  <a:srgbClr val="475569"/>
                </a:solidFill>
              </a:rPr>
              <a:t>Successfully built an automated digital image processing pipeline restoring degraded latent fingerprints for biometric identification.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Robustness: </a:t>
            </a:r>
            <a:r>
              <a:rPr b="0">
                <a:solidFill>
                  <a:srgbClr val="475569"/>
                </a:solidFill>
              </a:rPr>
              <a:t>Effectively handles low contrast, uneven lighting, skin dryness fractures, and background noise.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Forensic Viability: </a:t>
            </a:r>
            <a:r>
              <a:rPr b="0">
                <a:solidFill>
                  <a:srgbClr val="475569"/>
                </a:solidFill>
              </a:rPr>
              <a:t>Transforms poor-quality latent crime scene prints into verifiable AFIS-ready ridge patterns.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Future Scope 1: </a:t>
            </a:r>
            <a:r>
              <a:rPr b="0">
                <a:solidFill>
                  <a:srgbClr val="475569"/>
                </a:solidFill>
              </a:rPr>
              <a:t>Integrate deep learning orientation estimation (e.g. FingerNet CNN) for complex high-curvature prints.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• Future Scope 2: </a:t>
            </a:r>
            <a:r>
              <a:rPr b="0">
                <a:solidFill>
                  <a:srgbClr val="475569"/>
                </a:solidFill>
              </a:rPr>
              <a:t>Automate minutiae extraction (bifurcation/termination matching against FBI/AFIS criminal databases).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